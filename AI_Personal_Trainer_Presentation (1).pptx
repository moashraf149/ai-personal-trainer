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297680"/>
            <a:ext cx="5120640" cy="5120640"/>
          </a:xfrm>
          <a:prstGeom prst="ellipse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63240"/>
            <a:ext cx="109728" cy="1645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063240"/>
            <a:ext cx="59436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56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B5D4"/>
                </a:solidFill>
                <a:latin typeface="Calibri"/>
              </a:rPr>
              <a:t>HELWAN NATIONAL UNIVERSITY  ·  INTELLIGENT SYSTEMS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AI Personal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060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4FF"/>
                </a:solidFill>
                <a:latin typeface="Calibri"/>
              </a:rPr>
              <a:t>A Real-Time Pose-Estimation-Based Fitness Coaching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2377440" cy="11430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24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/>
              </a:rPr>
              <a:t>95%+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Rep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160520"/>
            <a:ext cx="2377440" cy="11430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4224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/>
              </a:rPr>
              <a:t>22-28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FPS Real-Time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160520"/>
            <a:ext cx="2377440" cy="11430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4224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Exercises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4160520"/>
            <a:ext cx="2377440" cy="11430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2245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365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Extra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623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B5D4"/>
                </a:solidFill>
                <a:latin typeface="Calibri"/>
              </a:rPr>
              <a:t>Mohamed Ali  ·  Mohamed Ashraf  ·  Mohamed Osman  ·  Omar Ahmed  ·  Retal Mohamed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126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B5D4"/>
                </a:solidFill>
                <a:latin typeface="Calibri"/>
              </a:rPr>
              <a:t>Submitted to: Dr. Samar M. Nour  &amp;  Eng. Karim Mokhtar   |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-2011680"/>
            <a:ext cx="4023360" cy="4023360"/>
          </a:xfrm>
          <a:prstGeom prst="ellipse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9105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58568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350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8658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54096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1455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8211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System Architecture &amp;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9624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4106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77639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45152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7365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7316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Methodology: Pose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79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5321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568695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Methodology: Exercise Recognition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463040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59105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Calorie Estimation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258568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50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38658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User Interface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054096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1455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18211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Results &amp;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849624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394106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977639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645152"/>
            <a:ext cx="5303520" cy="658368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7365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77316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
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B5D4"/>
                </a:solidFill>
                <a:latin typeface="Calibri"/>
              </a:rPr>
              <a:t>Why does this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"/>
            <a:ext cx="45720" cy="6126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Core Barriers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05840"/>
            <a:ext cx="7498079" cy="11887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115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  <a:latin typeface="Calibri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554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/>
              </a:rPr>
              <a:t>Personal trainers are expensive — prohibitive for most people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468880"/>
            <a:ext cx="7498079" cy="11887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578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  <a:latin typeface="Calibri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017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/>
              </a:rPr>
              <a:t>Gym equipment is location-bound and provides no real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7498079" cy="11887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60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041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  <a:latin typeface="Calibri"/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480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/>
              </a:rPr>
              <a:t>Apps give static video — completely decoupled from your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440680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107"/>
                </a:solidFill>
                <a:latin typeface="Calibri"/>
              </a:rPr>
              <a:t>⚠  Poor form = Injury. Without real-time guidance, beginners develop
compensatory movement patterns that go undetected until it's too 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Primary &amp; Secondary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512064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Calibri"/>
              </a:rPr>
              <a:t>PRIMARY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011679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Real-time pose estimation at ≥ 20 FPS on commodity hardware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907791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Accurate rep counting &amp; form assessment for Push-ups &amp; Squats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03903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58183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On-screen corrective feedback synced to each repetition cycle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0016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5429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Persistent SQLite database for user profiles &amp; session history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596128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5040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Intuitive Tkinter GUI accessible to non-technical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577840" cy="5120640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SECONDARY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011679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659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MET-based personalised calorie estimation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3108959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063239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Matplotlib analytics dashboard for training trends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0624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1605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Modular architecture ready for ML upgrade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530352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Full academic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Four tightly integrated layers with unidirectional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17320"/>
            <a:ext cx="9966960" cy="9601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17320"/>
            <a:ext cx="16459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Tkinter GUI  +  Matplotlib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BB5D4"/>
                </a:solidFill>
                <a:latin typeface="Calibri"/>
              </a:rPr>
              <a:t>▼  User Events / Display Updates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651760"/>
            <a:ext cx="9966960" cy="9601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651760"/>
            <a:ext cx="164592" cy="960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ANALYSIS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Angle Calculator  |  Exercise FSM  |  Calorie Estimator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BB5D4"/>
                </a:solidFill>
                <a:latin typeface="Calibri"/>
              </a:rPr>
              <a:t>▼  Landmarks /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86200"/>
            <a:ext cx="9966960" cy="9601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886200"/>
            <a:ext cx="164592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502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VISION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3891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OpenCV (Video Capture)  ▶  MediaPipe 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920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BB5D4"/>
                </a:solidFill>
                <a:latin typeface="Calibri"/>
              </a:rPr>
              <a:t>▼  Session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120640"/>
            <a:ext cx="9966960" cy="9601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5120640"/>
            <a:ext cx="16459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1846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2356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SQLite Database  |  ORM / Query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Battle-tested open-source stack — zero external dependencies at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6184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270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Python 3.10+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Core language — scientific ecosystem &amp; cross-platform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15768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91693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254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MediaPipe 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644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BlazePose CNN — 33 3-D landmarks in real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14215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4215383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2394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OpenCV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62855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Frame capture, colour conversion &amp; annotation rendering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12664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551383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223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Tkinter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86130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Native GUI — zero-install, seamlessly embedded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417320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16184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5270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SQLite3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Embedded ACID database — serverless &amp; in stdlib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715768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91693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8254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Matplotlib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2644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Static &amp; animated analytics charts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14215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215383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12394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NumPy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562855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Efficient vector arithmetic for angle computation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312664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551383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4223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Pillow (PIL)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861303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OpenCV → Tkinter PhotoImage bridge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8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371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Pose
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4290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B5D4"/>
                </a:solidFill>
                <a:latin typeface="Calibri"/>
              </a:rPr>
              <a:t>MediaPipe BlazePose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365760"/>
            <a:ext cx="45720" cy="6126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2560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05840"/>
            <a:ext cx="7589520" cy="9144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097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Stage 1 —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813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Fast single-shot detector localises the person within the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75688"/>
            <a:ext cx="7589520" cy="9144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67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Stage 2 —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5117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Predicts 33 3-D keypoints relative to the detected bounding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145536"/>
            <a:ext cx="7589520" cy="9144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2369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Output per Landmark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6210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Normalised (x, y) ∈ [0,1], depth z, and visibility score ∈ [0,1]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215383"/>
            <a:ext cx="7589520" cy="9144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30682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690871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min_detection = 0.7  |  min_tracking = 0.7  |  complexity =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285231"/>
            <a:ext cx="7589520" cy="9144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537667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  <a:latin typeface="Calibri"/>
              </a:rPr>
              <a:t>Error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760719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Low-visibility frames flagged → 'Pose Not Detected' warning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6400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BB5D4"/>
                </a:solidFill>
                <a:latin typeface="Calibri"/>
              </a:rPr>
              <a:t>33 body landmarks tracked  ·  Shoulders, Elbows, Wrists, Hips, Knees, Ankles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Exercise Recognition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Joint Angle Calculation  +  Finite-State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1691640"/>
          </a:xfrm>
          <a:prstGeom prst="rect">
            <a:avLst/>
          </a:prstGeom>
          <a:solidFill>
            <a:srgbClr val="0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C2FF"/>
                </a:solidFill>
                <a:latin typeface="Calibri"/>
              </a:rPr>
              <a:t>θ = |atan2( cross(BA, BC),  dot(BA, BC) )|  ×  (180/π)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2996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E4FF"/>
                </a:solidFill>
                <a:latin typeface="Calibri"/>
              </a:rPr>
              <a:t>where  cross(u,v) = u.x·v.y − u.y·v.x     dot(u,v) = u.x·v.x + u.y·v.y
BA = A − B  (proximal)    BC = C − B  (distal)    Result ∈ [0°, 180°]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Finite-State Machine Thresholds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94760"/>
            <a:ext cx="1234440" cy="530352"/>
          </a:xfrm>
          <a:prstGeom prst="rect">
            <a:avLst/>
          </a:prstGeom>
          <a:solidFill>
            <a:srgbClr val="0D2545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388620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FF"/>
                </a:solidFill>
                <a:latin typeface="Calibri"/>
              </a:rPr>
              <a:t>Exercise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3794760"/>
            <a:ext cx="1417320" cy="530352"/>
          </a:xfrm>
          <a:prstGeom prst="rect">
            <a:avLst/>
          </a:prstGeom>
          <a:solidFill>
            <a:srgbClr val="0D2545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38862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FF"/>
                </a:solidFill>
                <a:latin typeface="Calibri"/>
              </a:rPr>
              <a:t>UP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794760"/>
            <a:ext cx="1417320" cy="530352"/>
          </a:xfrm>
          <a:prstGeom prst="rect">
            <a:avLst/>
          </a:prstGeom>
          <a:solidFill>
            <a:srgbClr val="0D2545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7" y="388620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FF"/>
                </a:solidFill>
                <a:latin typeface="Calibri"/>
              </a:rPr>
              <a:t>DOWN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794760"/>
            <a:ext cx="1508760" cy="530352"/>
          </a:xfrm>
          <a:prstGeom prst="rect">
            <a:avLst/>
          </a:prstGeom>
          <a:solidFill>
            <a:srgbClr val="0D2545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886200"/>
            <a:ext cx="14173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FF"/>
                </a:solidFill>
                <a:latin typeface="Calibri"/>
              </a:rPr>
              <a:t>Corrective Cue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07408"/>
            <a:ext cx="123444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49884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Push-Up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4407408"/>
            <a:ext cx="141732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8" y="449884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Elbow &gt; 160°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407408"/>
            <a:ext cx="141732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1527" y="449884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Elbow &lt; 90°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407408"/>
            <a:ext cx="150876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4498848"/>
            <a:ext cx="14173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'Go Lower'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0056"/>
            <a:ext cx="123444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511149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Squat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5020056"/>
            <a:ext cx="141732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511149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Knee &gt; 160°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020056"/>
            <a:ext cx="141732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7" y="511149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Knee &lt; 90°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020056"/>
            <a:ext cx="1508760" cy="530352"/>
          </a:xfrm>
          <a:prstGeom prst="rect">
            <a:avLst/>
          </a:prstGeom>
          <a:solidFill>
            <a:srgbClr val="1E355E"/>
          </a:solidFill>
          <a:ln w="6350">
            <a:solidFill>
              <a:srgbClr val="1E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5111496"/>
            <a:ext cx="14173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'Squat Deeper'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1371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Tracked Joints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920240"/>
            <a:ext cx="5852160" cy="11887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0299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Right / Left Elbow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5146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/>
              </a:rPr>
              <a:t>Shoulder → Elbow → Wrist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337560"/>
            <a:ext cx="5852160" cy="11887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3447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Right / Left Knee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931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/>
              </a:rPr>
              <a:t>Hip → Knee → Ankle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754880"/>
            <a:ext cx="5852160" cy="118872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8646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Hip / Torso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3492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/>
              </a:rPr>
              <a:t>Shoulder → Hip → Knee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64008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BB5D4"/>
                </a:solidFill>
                <a:latin typeface="Calibri"/>
              </a:rPr>
              <a:t>atan2 advantage: handles all 4 quadrants, avoids acos instability near 0° &amp; 180°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Calorie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MET Model + Mifflin-St Jeor BMR equation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325880"/>
          </a:xfrm>
          <a:prstGeom prst="rect">
            <a:avLst/>
          </a:prstGeom>
          <a:solidFill>
            <a:srgbClr val="0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  <a:latin typeface="Calibri"/>
              </a:rPr>
              <a:t>E  =  MET  ×  W  × 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E4FF"/>
                </a:solidFill>
                <a:latin typeface="Calibri"/>
              </a:rPr>
              <a:t>E = Energy (kcal)     W = Body Weight (kg)     T = Duration (hours)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394960" cy="155448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Push-Ups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2FF"/>
                </a:solidFill>
                <a:latin typeface="Calibri"/>
              </a:rPr>
              <a:t>MET = 3.8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BB5D4"/>
                </a:solidFill>
                <a:latin typeface="Calibri"/>
              </a:rPr>
              <a:t>Moderate-intensity calisthenics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926080"/>
            <a:ext cx="5394960" cy="155448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Squats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2FF"/>
                </a:solidFill>
                <a:latin typeface="Calibri"/>
              </a:rPr>
              <a:t>MET = 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114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BB5D4"/>
                </a:solidFill>
                <a:latin typeface="Calibri"/>
              </a:rPr>
              <a:t>Vigorous bodyweight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Additional Health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66360"/>
            <a:ext cx="5394960" cy="141732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2303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  <a:latin typeface="Calibri"/>
              </a:rPr>
              <a:t>BMR — Mifflin-St Jeor Equation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5099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More accurate than Harris-Benedict formula.
Stored in user profile to contextualise session calorie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5166360"/>
            <a:ext cx="5394960" cy="141732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52303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3AED"/>
                </a:solidFill>
                <a:latin typeface="Calibri"/>
              </a:rPr>
              <a:t>BMI  =  weight(kg) / height(m)²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65099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Classification: Underweight / Normal / Overweight / Obese.
Displayed in user profile for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User Interface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Three screens — clarity, minimalism, immediate feedback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703320" cy="516636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1572768"/>
            <a:ext cx="621792" cy="621792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591056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Registration
&amp;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Name, Age, Weight, Height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BMI &amp; BMR auto-computed on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22776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Aggregate stats for returning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72583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Validation: plausible ranges enforced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3703320" cy="516636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62272" y="1572768"/>
            <a:ext cx="621792" cy="621792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591056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Training
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23160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Live webcam with skeleton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72968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Joint angle annotations in 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22776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Color-coded feedback banner (green/amber)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672583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Right panel: reps, timer, calories,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17320"/>
            <a:ext cx="3703320" cy="516636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192" y="1572768"/>
            <a:ext cx="621792" cy="621792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591056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Analytics
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23160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Weekly bar chart: reps &amp; calories/day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72968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Pie chart: calorie split by exercise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922776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Summary table: total sessions &amp;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72583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• Embedded Matplotlib via FigureCanvasTkAgg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Functional evaluation across multiple users &amp;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697480" cy="169164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2FF"/>
                </a:solidFill>
                <a:latin typeface="Calibri"/>
              </a:rPr>
              <a:t>96.5%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Push-Up
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417320"/>
            <a:ext cx="2697480" cy="169164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508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2FF"/>
                </a:solidFill>
                <a:latin typeface="Calibri"/>
              </a:rPr>
              <a:t>95.0%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Squat
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2697480" cy="169164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Calibri"/>
              </a:rPr>
              <a:t>22-28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FPS Achieved
(target: 20+)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417320"/>
            <a:ext cx="2697480" cy="169164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508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  <a:latin typeface="Calibri"/>
              </a:rPr>
              <a:t>&lt; 5ms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/>
              </a:rPr>
              <a:t>SQLite Write
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577840" cy="13716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474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2FF"/>
                </a:solidFill>
                <a:latin typeface="Calibri"/>
              </a:rPr>
              <a:t>Pose Detection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90448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Robust under typical indoor conditions. Detection degraded only below ~200 lux,
&gt;45° camera angle, or low-contrast clothing. System correctly issued warnings.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5577840" cy="13716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34747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2FF"/>
                </a:solidFill>
                <a:latin typeface="Calibri"/>
              </a:rPr>
              <a:t>Repetition Counting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90448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Tested over 10 sessions (5 push-up, 5 squat), 20 reps each. Errors confined to
borderline partial reps — correctly flagged with corrective feedback.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5577840" cy="13716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2FF"/>
                </a:solidFill>
                <a:latin typeface="Calibri"/>
              </a:rPr>
              <a:t>Feedback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50468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5 users (age 20–35). All confirmed cues aligned with subjective form quality.
'Good Rep' rated as motivating. Squat threshold slightly conservative (noted).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983480"/>
            <a:ext cx="5577840" cy="1371600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5074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2FF"/>
                </a:solidFill>
                <a:latin typeface="Calibri"/>
              </a:rPr>
              <a:t>System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50468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Benchmarked on Intel Core i5-11th Gen, 8 GB RAM, no GPU, Windows 11.
GUI remained smooth. SQLite writes had zero perceptible impact on frame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Acknowledged constraints that inform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58191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2D Angle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Single camera — perspective distortion when user isn't perpendicular to lens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46520" y="158191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087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Limited Exercise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3852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Only Push-ups &amp; Squats — manual threshold spec is labour-intensive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9191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284378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7063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Fixed Thresholds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39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No per-user calibration — anthropometric variation affects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679191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84378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7063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Single-User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0039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Multi-user simultaneous training is not supported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3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4105655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32503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Environmental Sensitivity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6227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Degrades in low light, cluttered BG, or low-contrast clothing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941063"/>
            <a:ext cx="55778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4105655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032503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Calorie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462272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MET is a population estimate — doesn't account for individual metabolism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5202936"/>
            <a:ext cx="6035040" cy="107899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63240" y="5367527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294375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Offline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724144"/>
            <a:ext cx="5532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No cloud sync, multi-device access, or social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B5D4"/>
                </a:solidFill>
                <a:latin typeface="Calibri"/>
              </a:rPr>
              <a:t>Roadmap for the next generation of the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1572768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184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270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ML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8424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Replace rule-based FSM with LSTM / Transformer / 1D-CNN model
trained on 10-50K labelled frames per exercise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577840" cy="1572768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270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Expanded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8424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Lunges, bicep curls, shoulder press, deadlifts, pull-ups, jumping jacks
— each new exercise needs only labelled data, not manual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5577840" cy="1572768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015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01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Visual Correction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6732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Colour-code individual skeleton joints by alignment quality
for spatially localised feedback (e.g. red on knee valgus collapse)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5577840" cy="1572768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015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3101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Cloud &amp; 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6732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Firebase / PostgreSQL backend + companion mobile app
for multi-device analytics and social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80"/>
            <a:ext cx="5577840" cy="1572768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846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932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Wearable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5040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Bluetooth HR monitor &amp; IMU integration for accurate calorie
estimation and heart-rate-guided intensity guidance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983480"/>
            <a:ext cx="5577840" cy="1572768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1846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50932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  <a:latin typeface="Calibri"/>
              </a:rPr>
              <a:t>Voice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55040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/>
              </a:rPr>
              <a:t>Text-to-speech (pyttsx3 / gTTS) audio cues — useful when
the user's line of sight to the screen is restricted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6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3657600"/>
            <a:ext cx="2743200" cy="2743200"/>
          </a:xfrm>
          <a:prstGeom prst="ellipse">
            <a:avLst/>
          </a:prstGeom>
          <a:solidFill>
            <a:srgbClr val="0D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2FF"/>
                </a:solidFill>
                <a:latin typeface="Calibri"/>
              </a:rPr>
              <a:t>Democratising
Personal Fitness
Coaching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65760"/>
            <a:ext cx="45720" cy="61264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777240"/>
            <a:ext cx="6903720" cy="126187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86868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Core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2588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Accurate rep counting, real-time corrective feedback, calorie estimation
and analytics — all on commodity hardware, fully offline.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240280"/>
            <a:ext cx="6903720" cy="126187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3317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8892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Clean 4-layer modular design: Vision → Analysis → Data → Presentation.
Any layer can be upgraded independently.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703320"/>
            <a:ext cx="6903720" cy="126187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794759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Proven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51959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95%+ accuracy; 22–28 FPS; SQLite &amp; Matplotlib analytics work reliably.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5166360"/>
            <a:ext cx="6903720" cy="1261872"/>
          </a:xfrm>
          <a:prstGeom prst="rect">
            <a:avLst/>
          </a:prstGeom>
          <a:solidFill>
            <a:srgbClr val="1E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25780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C2FF"/>
                </a:solidFill>
                <a:latin typeface="Calibri"/>
              </a:rPr>
              <a:t>Path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571500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E4FF"/>
                </a:solidFill>
                <a:latin typeface="Calibri"/>
              </a:rPr>
              <a:t>Transition to LSTM/Transformer ML model to dramatically expand
exercise coverage and improve form-assessment granularity.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6400800"/>
            <a:ext cx="690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BB5D4"/>
                </a:solidFill>
                <a:latin typeface="Calibri"/>
              </a:rPr>
              <a:t>"Combining computer vision with thoughtful software engineering
can produce fitness coaching that is technically rigorous and practically impactful."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2743200"/>
            <a:ext cx="8229600" cy="8229600"/>
          </a:xfrm>
          <a:prstGeom prst="ellipse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3657600"/>
            <a:ext cx="7315200" cy="7315200"/>
          </a:xfrm>
          <a:prstGeom prst="ellipse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14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63240"/>
            <a:ext cx="1216152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371600"/>
            <a:ext cx="12161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51760"/>
            <a:ext cx="1216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BB5D4"/>
                </a:solidFill>
                <a:latin typeface="Calibri"/>
              </a:rPr>
              <a:t>Any 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291840"/>
            <a:ext cx="2194560" cy="13716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Mohamed Ali Ragab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B5D4"/>
                </a:solidFill>
                <a:latin typeface="Calibri"/>
              </a:rPr>
              <a:t>921230123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3291840"/>
            <a:ext cx="2194560" cy="13716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Mohamed Ashraf Mohamed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B5D4"/>
                </a:solidFill>
                <a:latin typeface="Calibri"/>
              </a:rPr>
              <a:t>921230113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3291840"/>
            <a:ext cx="2194560" cy="13716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Mohamed Osman Khalifa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B5D4"/>
                </a:solidFill>
                <a:latin typeface="Calibri"/>
              </a:rPr>
              <a:t>921230122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291840"/>
            <a:ext cx="2194560" cy="13716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Omar Ahmed Hasan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B5D4"/>
                </a:solidFill>
                <a:latin typeface="Calibri"/>
              </a:rPr>
              <a:t>921230089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3291840"/>
            <a:ext cx="2194560" cy="1371600"/>
          </a:xfrm>
          <a:prstGeom prst="rect">
            <a:avLst/>
          </a:prstGeom>
          <a:solidFill>
            <a:srgbClr val="16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Retal Mohamed Mohamed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B5D4"/>
                </a:solidFill>
                <a:latin typeface="Calibri"/>
              </a:rPr>
              <a:t>921230045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4983480"/>
            <a:ext cx="1216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BB5D4"/>
                </a:solidFill>
                <a:latin typeface="Calibri"/>
              </a:rPr>
              <a:t>Dr. Samar M. Nour  ·  Eng. Karim Mokhtar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440680"/>
            <a:ext cx="1216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7090"/>
                </a:solidFill>
                <a:latin typeface="Calibri"/>
              </a:rPr>
              <a:t>Helwan National University  ·  Faculty of Engineering  ·  May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400800"/>
            <a:ext cx="1216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5070"/>
                </a:solidFill>
                <a:latin typeface="Calibri"/>
              </a:rPr>
              <a:t>AI Personal Trainer  ·  Intelligent Systems Engineering  ·  Academic Year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